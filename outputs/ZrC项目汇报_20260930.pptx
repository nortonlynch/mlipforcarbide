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cc354a774c4ef3" /><Relationship Type="http://schemas.openxmlformats.org/officeDocument/2006/relationships/extended-properties" Target="/docProps/app.xml" Id="R2dbbbab1362a44db" /><Relationship Type="http://schemas.openxmlformats.org/officeDocument/2006/relationships/officeDocument" Target="/ppt/presentation.xml" Id="R9bfa7ae3caf84f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edbdc4c2664dad"/>
  </p:sldMasterIdLst>
  <p:notesMasterIdLst>
    <p:notesMasterId xmlns:r="http://schemas.openxmlformats.org/officeDocument/2006/relationships" r:id="Rb1388cfd4d994937"/>
  </p:notesMasterIdLst>
  <p:sldIdLst>
    <p:sldId xmlns:r="http://schemas.openxmlformats.org/officeDocument/2006/relationships" id="256" r:id="R86385a4c8dce4e34"/>
    <p:sldId xmlns:r="http://schemas.openxmlformats.org/officeDocument/2006/relationships" id="257" r:id="R3f15dfa96c4e4cfa"/>
    <p:sldId xmlns:r="http://schemas.openxmlformats.org/officeDocument/2006/relationships" id="258" r:id="R072650dc57a9401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055481069c491f" /><Relationship Type="http://schemas.openxmlformats.org/officeDocument/2006/relationships/slideMaster" Target="/ppt/slideMasters/slideMaster1.xml" Id="Rfeedbdc4c2664dad" /><Relationship Type="http://schemas.openxmlformats.org/officeDocument/2006/relationships/notesMaster" Target="/ppt/notesMasters/notesMaster1.xml" Id="Rb1388cfd4d994937" /><Relationship Type="http://schemas.openxmlformats.org/officeDocument/2006/relationships/presProps" Target="/ppt/presProps.xml" Id="Rca6914c0d8b34aea" /><Relationship Type="http://schemas.openxmlformats.org/officeDocument/2006/relationships/tableStyles" Target="/ppt/tableStyles.xml" Id="R0b46706076b64d05" /><Relationship Type="http://schemas.openxmlformats.org/officeDocument/2006/relationships/slide" Target="/ppt/slides/slide1.xml" Id="R86385a4c8dce4e34" /><Relationship Type="http://schemas.openxmlformats.org/officeDocument/2006/relationships/slide" Target="/ppt/slides/slide2.xml" Id="R3f15dfa96c4e4cfa" /><Relationship Type="http://schemas.openxmlformats.org/officeDocument/2006/relationships/slide" Target="/ppt/slides/slide3.xml" Id="R072650dc57a940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3d040b2b95483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477bcf18b64e8f" /><Relationship Type="http://schemas.openxmlformats.org/officeDocument/2006/relationships/notesMaster" Target="/ppt/notesMasters/notesMaster1.xml" Id="Rcc2ab216aa734e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5b89d75e3b4523" /><Relationship Type="http://schemas.openxmlformats.org/officeDocument/2006/relationships/notesMaster" Target="/ppt/notesMasters/notesMaster1.xml" Id="Rda04aa7696ea42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7320d6c3ca427b" /><Relationship Type="http://schemas.openxmlformats.org/officeDocument/2006/relationships/notesMaster" Target="/ppt/notesMasters/notesMaster1.xml" Id="R77b679ff831543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建议讲解约 1 分钟。</a:t>
            </a:r>
          </a:p>
          <a:p xmlns:a="http://schemas.openxmlformats.org/drawingml/2006/main">
            <a:r>
              <a:t>这个项目研究预训练机器学习原子间势在高温碳化物中的可靠性，以及通过少量高质量 DFT 数据扩展其适用范围的效率。MLIP 根据原子种类、位置和晶胞预测能量、力与应力，力驱动 MD。DFT 为选定构型提供统一参照，但也要先确定一致的数值协议。</a:t>
            </a:r>
          </a:p>
          <a:p xmlns:a="http://schemas.openxmlformats.org/drawingml/2006/main">
            <a:r>
              <a:t>当前实际主线是 ZrC、MACE-MH-1 的 omat_pbe 头与 ASE。先固定权重开展采样与零样本评估，再在相同预算下比较选样和训练方式。预期产出包括分条件的可靠性地图、学习曲线与新轨迹的物理核验。</a:t>
            </a:r>
          </a:p>
          <a:p xmlns:a="http://schemas.openxmlformats.org/drawingml/2006/main">
            <a:r>
              <a:t>图中原子结构由内置 image_gen 工具生成，只用于说明有序和无序构型的区别。不能用温度或示意图直接认定液态。</a:t>
            </a:r>
          </a:p>
          <a:p xmlns:a="http://schemas.openxmlformats.org/drawingml/2006/main">
            <a:r>
              <a:t>来源：D:/MaterialModel/README.md；D:/MaterialModel/AI4S_carbide_foundation_MLIP_project_summary.md；D:/MaterialModel/docs/project-guide.md；D:/MaterialModel/docs/project-status.md。</a:t>
            </a:r>
          </a:p>
          <a:p xmlns:a="http://schemas.openxmlformats.org/drawingml/2006/main">
            <a:r>
              <a:t>图源：D:/MaterialModel/docs/figures/briefing-atoms-concept-20260930.png。完整生成提示词：D:/MaterialModel/docs/figures/briefing-atoms-concept-20260930.prompt.txt。示意图不表示精确晶格、相态或计算结果。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建议讲解约 1.5–2 分钟。</a:t>
            </a:r>
          </a:p>
          <a:p xmlns:a="http://schemas.openxmlformats.org/drawingml/2006/main">
            <a:r>
              <a:t>首轮采样矩阵为 6 个温度、3 个体积、3 个尺寸、3 个 MD 种子，共 162 组。温度为 300、1500、3000、4500、5250、6000 K。体积相对于 a_start=4.7 Å 的初始盒子，不是已确定的 DFT 平衡体积。每组预定 5 ps 平衡段加 10 ps 采样段，这个时长不能自动证明已达到热平衡。</a:t>
            </a:r>
          </a:p>
          <a:p xmlns:a="http://schemas.openxmlformats.org/drawingml/2006/main">
            <a:r>
              <a:t>DFT 协议先在 18 个真实、未弛豫的 64 原子 MD 构型上比较。本批固定 600 eV，比较 6³ 与 7³ k 网格，共 36 项。随后统一能量、力、应力定义与能量基准，开展零样本评估。</a:t>
            </a:r>
          </a:p>
          <a:p xmlns:a="http://schemas.openxmlformats.org/drawingml/2006/main">
            <a:r>
              <a:t>两类选样都采用温度/体积分层。Random 在层内随机选择，SOAP+FPS 用结构描述符和最远点采样选择与已有集合差异较大的构型。几何差异不直接等于 DFT 误差，需要训练结果验证。六条选择序列来自两个策略和三个选样种子，各自前 20、50、100、200 帧形成嵌套预算。</a:t>
            </a:r>
          </a:p>
          <a:p xmlns:a="http://schemas.openxmlformats.org/drawingml/2006/main">
            <a:r>
              <a:t>对照表中四种组合使用相同协议和公平预算，同一子集同时用于微调与同架构从头训练。开发、验证、测试按 MD 来源种子隔离，防止相邻轨迹帧泄漏。MD 种子与选样种子是两类不同的随机性，全部训练序列的 MD 来源都是 17。最终验证、测试清单和标签预算尚未落实。</a:t>
            </a:r>
          </a:p>
          <a:p xmlns:a="http://schemas.openxmlformats.org/drawingml/2006/main">
            <a:r>
              <a:t>可靠性阈值应先于测试确定。能量、力、应力的单点精度之外，还需 RDF、配位、扩散等结构动力学验证；这些物理量需要 AIMD 或其他可信参考，不能由单点 DFT 单独提供。</a:t>
            </a:r>
          </a:p>
          <a:p xmlns:a="http://schemas.openxmlformats.org/drawingml/2006/main">
            <a:r>
              <a:t>来源：D:/MaterialModel/README.md；D:/MaterialModel/docs/experiment-plan.md；D:/MaterialModel/docs/candidate-selection-20260924.md；D:/MaterialModel/docs/project-status.md。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建议讲解约 1–1.5 分钟。</a:t>
            </a:r>
          </a:p>
          <a:p xmlns:a="http://schemas.openxmlformats.org/drawingml/2006/main">
            <a:r>
              <a:t>截至项目 2026-09-30 状态文件，162 组 MD 都完成了预定数值计算。去掉每条采样轨迹与平衡段末态重合的 t=0 帧后，共有 32,400 帧索引。64 原子原始帧为 10,800 帧，按 250 fs 候选网格抽稀为 2,160 帧，其中开发侧 720 帧扣除 18 个协议校准帧后为 702 个训练候选。抽稀不构成独立性或热平衡认证。</a:t>
            </a:r>
          </a:p>
          <a:p xmlns:a="http://schemas.openxmlformats.org/drawingml/2006/main">
            <a:r>
              <a:t>当前 18 个真实 MD 构型、6³/7³ 网格共 36 项 DFT 输入与任务包已准备。本地正式任务目录没有回传的 OUTCAR、vasprun.xml 或运行状态结果，不能据此声称集群任务已完成。</a:t>
            </a:r>
          </a:p>
          <a:p xmlns:a="http://schemas.openxmlformats.org/drawingml/2006/main">
            <a:r>
              <a:t>下一步先审核这批结果，确定标签协议，并落实可靠性判据、验证/测试清单及标注预算。低预算起步可先选择一个选样种子的 N=20，对应两种选样策略的 38 个唯一训练构型。固定协议后，生成首批标签并比较零样本、微调和同架构从头训练。</a:t>
            </a:r>
          </a:p>
          <a:p xmlns:a="http://schemas.openxmlformats.org/drawingml/2006/main">
            <a:r>
              <a:t>预算口径要说明：N 是每个策略、每个选样种子的训练构型数。三种选样种子、两种策略在 N=200 时共需要 552 个唯一训练构型。协议校准、验证、测试、原子参考和 AIMD 另行计费。不能将“每模型 200 帧”当成总标注预算。</a:t>
            </a:r>
          </a:p>
          <a:p xmlns:a="http://schemas.openxmlformats.org/drawingml/2006/main">
            <a:r>
              <a:t>结论边界：6000 K 只是采样温度上限。高温定体积轨迹可能具有显著压力，不能视为常压熔化。当前没有正式 DFT 误差地图、可靠温度边界、熔点或适配收益结果。待真实标签与训练完成后，才报告数据效率与可靠范围变化。</a:t>
            </a:r>
          </a:p>
          <a:p xmlns:a="http://schemas.openxmlformats.org/drawingml/2006/main">
            <a:r>
              <a:t>可与老师讨论：首批训练加独立验证/测试的资源投入，以及什么物理任务和容许误差定义“可靠”。</a:t>
            </a:r>
          </a:p>
          <a:p xmlns:a="http://schemas.openxmlformats.org/drawingml/2006/main">
            <a:r>
              <a:t>来源：D:/MaterialModel/docs/project-status.md（2026-09-30）；D:/MaterialModel/docs/candidate-selection-20260924.md；D:/MaterialModel/dft/jobs/05_md_kmesh600/README.md。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0cedf7d02043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1d5fdb3e914c2a" /><Relationship Type="http://schemas.openxmlformats.org/officeDocument/2006/relationships/slideLayout" Target="/ppt/slideLayouts/slideLayout1.xml" Id="Rc7dad18f9f5f44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dad18f9f5f44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d7b0269a44b0d" /><Relationship Type="http://schemas.openxmlformats.org/officeDocument/2006/relationships/image" Target="/ppt/media/image.png" Id="R20fc26ea5d8d4f0b" /><Relationship Type="http://schemas.openxmlformats.org/officeDocument/2006/relationships/notesSlide" Target="/ppt/notesSlides/notesSlide1.xml" Id="Rf2f60576371845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310f28aa44603" /><Relationship Type="http://schemas.openxmlformats.org/officeDocument/2006/relationships/notesSlide" Target="/ppt/notesSlides/notesSlide2.xml" Id="Ref9d23a007e64c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f843eed534480" /><Relationship Type="http://schemas.openxmlformats.org/officeDocument/2006/relationships/notesSlide" Target="/ppt/notesSlides/notesSlide3.xml" Id="R46e3421225754d7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olio">
            <a:extLst xmlns:a="http://schemas.openxmlformats.org/drawingml/2006/main">
              <a:ext uri="{FF2B5EF4-FFF2-40B4-BE49-F238E27FC236}">
                <a16:creationId xmlns:a16="http://schemas.microsoft.com/office/drawing/2014/main" id="{C3FF37E1-5221-4FA9-93A6-A4DF28EA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115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7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7A8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" name="scope">
            <a:extLst xmlns:a="http://schemas.openxmlformats.org/drawingml/2006/main">
              <a:ext uri="{FF2B5EF4-FFF2-40B4-BE49-F238E27FC236}">
                <a16:creationId xmlns:a16="http://schemas.microsoft.com/office/drawing/2014/main" id="{F256ED7F-1C66-4277-9D22-8DD2C077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"/>
            <a:ext cx="1352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F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7F87"/>
                </a:solidFill>
                <a:latin typeface="Microsoft YaHei"/>
                <a:ea typeface="Microsoft YaHei"/>
                <a:cs typeface="Microsoft YaHei"/>
              </a:rPr>
              <a:t>首阶段：ZrC + MACE-MH-1（omat_pbe）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3D7AFC8-5215-45AF-93B9-D09A4B40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04900"/>
            <a:ext cx="1352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rPr>
              <a:t>高温 ZrC 中基础原子势的</a:t>
            </a:r>
          </a:p>
          <a:p xmlns:a="http://schemas.openxmlformats.org/drawingml/2006/main">
            <a:pPr algn="l">
              <a:defRPr sz="40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rPr>
              <a:t>可靠性边界与数据效率</a:t>
            </a:r>
          </a:p>
        </p:txBody>
      </p:sp>
      <p:sp>
        <p:nvSpPr>
          <p:cNvPr id="4" name="q1">
            <a:extLst xmlns:a="http://schemas.openxmlformats.org/drawingml/2006/main">
              <a:ext uri="{FF2B5EF4-FFF2-40B4-BE49-F238E27FC236}">
                <a16:creationId xmlns:a16="http://schemas.microsoft.com/office/drawing/2014/main" id="{5C836C54-4A90-4A7E-9E6C-64ACF362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rPr>
              <a:t>何时失效</a:t>
            </a:r>
          </a:p>
        </p:txBody>
      </p:sp>
      <p:sp>
        <p:nvSpPr>
          <p:cNvPr id="5" name="q1-body">
            <a:extLst xmlns:a="http://schemas.openxmlformats.org/drawingml/2006/main">
              <a:ext uri="{FF2B5EF4-FFF2-40B4-BE49-F238E27FC236}">
                <a16:creationId xmlns:a16="http://schemas.microsoft.com/office/drawing/2014/main" id="{A4AB17FF-0EB6-4B6A-BEAF-EFC4415A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628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以 DFT 为参照，定位高温构型误差，</a:t>
            </a:r>
          </a:p>
          <a:p xmlns:a="http://schemas.openxmlformats.org/drawingml/2006/main">
            <a:pPr algn="l">
              <a:defRPr sz="210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并检查结构与动力学表现。</a:t>
            </a:r>
          </a:p>
        </p:txBody>
      </p:sp>
      <p:sp>
        <p:nvSpPr>
          <p:cNvPr id="6" name="q2">
            <a:extLst xmlns:a="http://schemas.openxmlformats.org/drawingml/2006/main">
              <a:ext uri="{FF2B5EF4-FFF2-40B4-BE49-F238E27FC236}">
                <a16:creationId xmlns:a16="http://schemas.microsoft.com/office/drawing/2014/main" id="{EE9775D3-7543-438B-B0F6-0FCDB202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rPr>
              <a:t>哪些构型值得标注</a:t>
            </a:r>
          </a:p>
        </p:txBody>
      </p:sp>
      <p:sp>
        <p:nvSpPr>
          <p:cNvPr id="7" name="q2-body">
            <a:extLst xmlns:a="http://schemas.openxmlformats.org/drawingml/2006/main">
              <a:ext uri="{FF2B5EF4-FFF2-40B4-BE49-F238E27FC236}">
                <a16:creationId xmlns:a16="http://schemas.microsoft.com/office/drawing/2014/main" id="{6D24D772-6B9C-461E-A4BC-35A69D15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81600"/>
            <a:ext cx="628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在相同预算下，比较随机选样</a:t>
            </a:r>
          </a:p>
          <a:p xmlns:a="http://schemas.openxmlformats.org/drawingml/2006/main">
            <a:pPr algn="l">
              <a:defRPr sz="210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与基于结构多样性的选样。</a:t>
            </a:r>
          </a:p>
        </p:txBody>
      </p:sp>
      <p:sp>
        <p:nvSpPr>
          <p:cNvPr id="8" name="q3">
            <a:extLst xmlns:a="http://schemas.openxmlformats.org/drawingml/2006/main">
              <a:ext uri="{FF2B5EF4-FFF2-40B4-BE49-F238E27FC236}">
                <a16:creationId xmlns:a16="http://schemas.microsoft.com/office/drawing/2014/main" id="{0EB71425-24E0-40B1-9AD6-C33C657B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48400"/>
            <a:ext cx="6429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rPr>
              <a:t>预训练能节省多少数据</a:t>
            </a:r>
          </a:p>
        </p:txBody>
      </p:sp>
      <p:sp>
        <p:nvSpPr>
          <p:cNvPr id="9" name="q3-body">
            <a:extLst xmlns:a="http://schemas.openxmlformats.org/drawingml/2006/main">
              <a:ext uri="{FF2B5EF4-FFF2-40B4-BE49-F238E27FC236}">
                <a16:creationId xmlns:a16="http://schemas.microsoft.com/office/drawing/2014/main" id="{2E367C5F-361B-4108-A10A-D9BCCA086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00850"/>
            <a:ext cx="647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以相同目标精度与物理判据，</a:t>
            </a:r>
          </a:p>
          <a:p xmlns:a="http://schemas.openxmlformats.org/drawingml/2006/main">
            <a:pPr algn="l">
              <a:defRPr sz="210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比较微调和从头训练所需的 DFT 数量。</a:t>
            </a:r>
          </a:p>
        </p:txBody>
      </p:sp>
      <p:sp>
        <p:nvSpPr>
          <p:cNvPr id="10" name="concept-intro">
            <a:extLst xmlns:a="http://schemas.openxmlformats.org/drawingml/2006/main">
              <a:ext uri="{FF2B5EF4-FFF2-40B4-BE49-F238E27FC236}">
                <a16:creationId xmlns:a16="http://schemas.microsoft.com/office/drawing/2014/main" id="{4A370655-6632-4B43-8215-5A735A4B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19425"/>
            <a:ext cx="685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固定基础模型权重进行 MD 采样，</a:t>
            </a:r>
          </a:p>
          <a:p xmlns:a="http://schemas.openxmlformats.org/drawingml/2006/main">
            <a:pPr algn="l">
              <a:defRPr sz="210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用 DFT 标签检验预测，再用少量数据适配。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c26ea5d8d4f0b"/>
          <a:stretch xmlns:a="http://schemas.openxmlformats.org/drawingml/2006/main"/>
        </p:blipFill>
        <p:spPr>
          <a:xfrm xmlns:a="http://schemas.openxmlformats.org/drawingml/2006/main">
            <a:off x="7524750" y="3944938"/>
            <a:ext cx="7048500" cy="2349500"/>
          </a:xfrm>
          <a:prstGeom xmlns:a="http://schemas.openxmlformats.org/drawingml/2006/main" prst="rect">
            <a:avLst/>
          </a:prstGeom>
        </p:spPr>
      </p:pic>
      <p:sp>
        <p:nvSpPr>
          <p:cNvPr id="12" name="structure-label-1">
            <a:extLst xmlns:a="http://schemas.openxmlformats.org/drawingml/2006/main">
              <a:ext uri="{FF2B5EF4-FFF2-40B4-BE49-F238E27FC236}">
                <a16:creationId xmlns:a16="http://schemas.microsoft.com/office/drawing/2014/main" id="{3BFF5A96-52BB-4982-90A7-80B82E2E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4389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rPr>
              <a:t>有序晶体</a:t>
            </a:r>
          </a:p>
        </p:txBody>
      </p:sp>
      <p:sp>
        <p:nvSpPr>
          <p:cNvPr id="13" name="structure-label-2">
            <a:extLst xmlns:a="http://schemas.openxmlformats.org/drawingml/2006/main">
              <a:ext uri="{FF2B5EF4-FFF2-40B4-BE49-F238E27FC236}">
                <a16:creationId xmlns:a16="http://schemas.microsoft.com/office/drawing/2014/main" id="{72880D4B-6589-4656-BD79-7A251CB8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64389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rPr>
              <a:t>高温构型</a:t>
            </a:r>
          </a:p>
        </p:txBody>
      </p:sp>
      <p:sp>
        <p:nvSpPr>
          <p:cNvPr id="14" name="structure-label-3">
            <a:extLst xmlns:a="http://schemas.openxmlformats.org/drawingml/2006/main">
              <a:ext uri="{FF2B5EF4-FFF2-40B4-BE49-F238E27FC236}">
                <a16:creationId xmlns:a16="http://schemas.microsoft.com/office/drawing/2014/main" id="{0495443B-3267-4DC6-81C6-BF18CFF9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64389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rPr>
              <a:t>强无序构型</a:t>
            </a:r>
          </a:p>
        </p:txBody>
      </p:sp>
      <p:sp>
        <p:nvSpPr>
          <p:cNvPr id="15" name="concept-disclosure">
            <a:extLst xmlns:a="http://schemas.openxmlformats.org/drawingml/2006/main">
              <a:ext uri="{FF2B5EF4-FFF2-40B4-BE49-F238E27FC236}">
                <a16:creationId xmlns:a16="http://schemas.microsoft.com/office/drawing/2014/main" id="{C6E843B6-63B4-4D47-8914-E4A6A98A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87705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7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77A88"/>
                </a:solidFill>
                <a:latin typeface="Microsoft YaHei"/>
                <a:ea typeface="Microsoft YaHei"/>
                <a:cs typeface="Microsoft YaHei"/>
              </a:rPr>
              <a:t>原子构型为 AI 概念示意，具体相态需另行核验</a:t>
            </a:r>
          </a:p>
        </p:txBody>
      </p:sp>
      <p:sp>
        <p:nvSpPr>
          <p:cNvPr id="16" name="future-scope">
            <a:extLst xmlns:a="http://schemas.openxmlformats.org/drawingml/2006/main">
              <a:ext uri="{FF2B5EF4-FFF2-40B4-BE49-F238E27FC236}">
                <a16:creationId xmlns:a16="http://schemas.microsoft.com/office/drawing/2014/main" id="{945B1B2D-4D1A-43F0-B950-0231E71F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334250"/>
            <a:ext cx="666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07F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F87"/>
                </a:solidFill>
                <a:latin typeface="Microsoft YaHei"/>
                <a:ea typeface="Microsoft YaHei"/>
                <a:cs typeface="Microsoft YaHei"/>
              </a:rPr>
              <a:t>首阶段聚焦 ZrC；HfC/TaC、多模型与</a:t>
            </a:r>
          </a:p>
          <a:p xmlns:a="http://schemas.openxmlformats.org/drawingml/2006/main">
            <a:pPr algn="l">
              <a:defRPr sz="1950" b="0">
                <a:solidFill>
                  <a:srgbClr val="007F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007F87"/>
                </a:solidFill>
                <a:latin typeface="Microsoft YaHei"/>
                <a:ea typeface="Microsoft YaHei"/>
                <a:cs typeface="Microsoft YaHei"/>
              </a:rPr>
              <a:t>迭代主动学习作为后续扩展。</a:t>
            </a:r>
          </a:p>
        </p:txBody>
      </p:sp>
    </p:spTree>
    <p:extLst>
      <p:ext uri="{BB962C8B-B14F-4D97-AF65-F5344CB8AC3E}">
        <p14:creationId xmlns:p14="http://schemas.microsoft.com/office/powerpoint/2010/main" val="742212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folio">
            <a:extLst xmlns:a="http://schemas.openxmlformats.org/drawingml/2006/main">
              <a:ext uri="{FF2B5EF4-FFF2-40B4-BE49-F238E27FC236}">
                <a16:creationId xmlns:a16="http://schemas.microsoft.com/office/drawing/2014/main" id="{CA7DAE48-DC28-461C-B440-D804D082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115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7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7A8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69D0F6-D046-43BD-8D12-F1A3DC1D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rPr>
              <a:t>技术路线与对照实验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2560E438-4712-498F-BB01-FD648A2C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7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77A88"/>
                </a:solidFill>
                <a:latin typeface="Microsoft YaHei"/>
                <a:ea typeface="Microsoft YaHei"/>
                <a:cs typeface="Microsoft YaHei"/>
              </a:rPr>
              <a:t>同一候选池、同一 DFT 协议、同一训练预算</a:t>
            </a:r>
          </a:p>
        </p:txBody>
      </p:sp>
      <p:sp>
        <p:nvSpPr>
          <p:cNvPr id="4" name="sampling-heading">
            <a:extLst xmlns:a="http://schemas.openxmlformats.org/drawingml/2006/main">
              <a:ext uri="{FF2B5EF4-FFF2-40B4-BE49-F238E27FC236}">
                <a16:creationId xmlns:a16="http://schemas.microsoft.com/office/drawing/2014/main" id="{5C15F4DA-F2C8-486F-8717-C9DFB3A04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90775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rPr>
              <a:t>01  采样覆盖</a:t>
            </a:r>
          </a:p>
        </p:txBody>
      </p:sp>
      <p:sp>
        <p:nvSpPr>
          <p:cNvPr id="5" name="sampling-body">
            <a:extLst xmlns:a="http://schemas.openxmlformats.org/drawingml/2006/main">
              <a:ext uri="{FF2B5EF4-FFF2-40B4-BE49-F238E27FC236}">
                <a16:creationId xmlns:a16="http://schemas.microsoft.com/office/drawing/2014/main" id="{11E31496-9A50-4A00-A88A-06EF5064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6143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300–6000 K，共 6 个温度</a:t>
            </a:r>
          </a:p>
          <a:p xmlns:a="http://schemas.openxmlformats.org/drawingml/2006/main">
            <a:pPr algn="l">
              <a:defRPr sz="2025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初始体积比例：0.95 / 1.00 / 1.05</a:t>
            </a:r>
          </a:p>
          <a:p xmlns:a="http://schemas.openxmlformats.org/drawingml/2006/main">
            <a:pPr algn="l">
              <a:defRPr sz="2025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8 / 64 / 216 原子，各 3 个 MD 种子</a:t>
            </a:r>
          </a:p>
        </p:txBody>
      </p:sp>
      <p:sp>
        <p:nvSpPr>
          <p:cNvPr id="6" name="dft-heading">
            <a:extLst xmlns:a="http://schemas.openxmlformats.org/drawingml/2006/main">
              <a:ext uri="{FF2B5EF4-FFF2-40B4-BE49-F238E27FC236}">
                <a16:creationId xmlns:a16="http://schemas.microsoft.com/office/drawing/2014/main" id="{70445742-A2C8-4FB8-87D6-576300BF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642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rPr>
              <a:t>02  DFT 参照与零样本评估</a:t>
            </a:r>
          </a:p>
        </p:txBody>
      </p:sp>
      <p:sp>
        <p:nvSpPr>
          <p:cNvPr id="7" name="dft-body">
            <a:extLst xmlns:a="http://schemas.openxmlformats.org/drawingml/2006/main">
              <a:ext uri="{FF2B5EF4-FFF2-40B4-BE49-F238E27FC236}">
                <a16:creationId xmlns:a16="http://schemas.microsoft.com/office/drawing/2014/main" id="{65EB7B9A-6E14-4E0A-9CC0-A2F1300E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统一能量、力和应力标签</a:t>
            </a:r>
          </a:p>
          <a:p xmlns:a="http://schemas.openxmlformats.org/drawingml/2006/main">
            <a:pPr algn="l">
              <a:defRPr sz="2025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按温度、体积与结构状态建立误差地图</a:t>
            </a:r>
          </a:p>
        </p:txBody>
      </p:sp>
      <p:sp>
        <p:nvSpPr>
          <p:cNvPr id="8" name="validation-heading">
            <a:extLst xmlns:a="http://schemas.openxmlformats.org/drawingml/2006/main">
              <a:ext uri="{FF2B5EF4-FFF2-40B4-BE49-F238E27FC236}">
                <a16:creationId xmlns:a16="http://schemas.microsoft.com/office/drawing/2014/main" id="{7D6CD1D6-1D52-4A11-803D-3A82221E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34075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rPr>
              <a:t>03  独立测试与物理检验</a:t>
            </a:r>
          </a:p>
        </p:txBody>
      </p:sp>
      <p:sp>
        <p:nvSpPr>
          <p:cNvPr id="9" name="validation-body">
            <a:extLst xmlns:a="http://schemas.openxmlformats.org/drawingml/2006/main">
              <a:ext uri="{FF2B5EF4-FFF2-40B4-BE49-F238E27FC236}">
                <a16:creationId xmlns:a16="http://schemas.microsoft.com/office/drawing/2014/main" id="{12F85E5F-B343-47D5-882E-83926E77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628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冻结模型后比较学习曲线</a:t>
            </a:r>
          </a:p>
          <a:p xmlns:a="http://schemas.openxmlformats.org/drawingml/2006/main">
            <a:pPr algn="l">
              <a:defRPr sz="2025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新轨迹核验 RDF、配位与扩散，并检查相态</a:t>
            </a:r>
          </a:p>
        </p:txBody>
      </p:sp>
      <p:sp>
        <p:nvSpPr>
          <p:cNvPr id="10" name="matrix-heading">
            <a:extLst xmlns:a="http://schemas.openxmlformats.org/drawingml/2006/main">
              <a:ext uri="{FF2B5EF4-FFF2-40B4-BE49-F238E27FC236}">
                <a16:creationId xmlns:a16="http://schemas.microsoft.com/office/drawing/2014/main" id="{3D78BB9F-1AED-4E17-90AF-9A207466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90775"/>
            <a:ext cx="704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rPr>
              <a:t>2 × 2 对照：选样策略 × 初始化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7429500" y="3000375"/>
          <a:ext xmlns:a="http://schemas.openxmlformats.org/drawingml/2006/main" cx="7048500" cy="2286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209800"/>
                <a:gridCol w="2324100"/>
                <a:gridCol w="2514600"/>
              </a:tblGrid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初始化</a:t>
                      </a:r>
                    </a:p>
                  </a:txBody>
                  <a:tcPr marL="171450" marR="171450" marT="152400" marB="152400" anchor="ctr">
                    <a:solidFill>
                      <a:srgbClr val="102D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 Random</a:t>
                      </a:r>
                    </a:p>
                  </a:txBody>
                  <a:tcPr marL="171450" marR="171450" marT="152400" marB="152400" anchor="ctr">
                    <a:solidFill>
                      <a:srgbClr val="102D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 SOAP+FPS</a:t>
                      </a:r>
                    </a:p>
                  </a:txBody>
                  <a:tcPr marL="171450" marR="171450" marT="152400" marB="152400" anchor="ctr">
                    <a:solidFill>
                      <a:srgbClr val="102D4D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046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基础模型权重</a:t>
                      </a:r>
                    </a:p>
                  </a:txBody>
                  <a:tcPr marL="171450" marR="171450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046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微调</a:t>
                      </a:r>
                    </a:p>
                  </a:txBody>
                  <a:tcPr marL="171450" marR="171450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046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微调</a:t>
                      </a:r>
                    </a:p>
                  </a:txBody>
                  <a:tcPr marL="171450" marR="171450" marT="152400" marB="15240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046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随机初始化</a:t>
                      </a:r>
                    </a:p>
                  </a:txBody>
                  <a:tcPr marL="171450" marR="171450" marT="152400" marB="152400" anchor="ctr">
                    <a:solidFill>
                      <a:srgbClr val="F0F6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046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从头训练</a:t>
                      </a:r>
                    </a:p>
                  </a:txBody>
                  <a:tcPr marL="171450" marR="171450" marT="152400" marB="152400" anchor="ctr">
                    <a:solidFill>
                      <a:srgbClr val="F0F6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2100" b="0">
                          <a:solidFill>
                            <a:srgbClr val="3046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从头训练</a:t>
                      </a:r>
                    </a:p>
                  </a:txBody>
                  <a:tcPr marL="171450" marR="171450" marT="152400" marB="152400" anchor="ctr">
                    <a:solidFill>
                      <a:srgbClr val="F0F6F8"/>
                    </a:solidFill>
                  </a:tcPr>
                </a:tc>
              </a:tr>
            </a:tbl>
          </a:graphicData>
        </a:graphic>
      </p:graphicFrame>
      <p:sp>
        <p:nvSpPr>
          <p:cNvPr id="12" name="budgets">
            <a:extLst xmlns:a="http://schemas.openxmlformats.org/drawingml/2006/main">
              <a:ext uri="{FF2B5EF4-FFF2-40B4-BE49-F238E27FC236}">
                <a16:creationId xmlns:a16="http://schemas.microsoft.com/office/drawing/2014/main" id="{FF1915DF-B33A-411B-BB2A-B1499D96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388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7F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7F87"/>
                </a:solidFill>
                <a:latin typeface="Microsoft YaHei"/>
                <a:ea typeface="Microsoft YaHei"/>
                <a:cs typeface="Microsoft YaHei"/>
              </a:rPr>
              <a:t>嵌套预算 N = 20 / 50 / 100 / 200</a:t>
            </a:r>
          </a:p>
        </p:txBody>
      </p:sp>
      <p:sp>
        <p:nvSpPr>
          <p:cNvPr id="13" name="fair-comparison">
            <a:extLst xmlns:a="http://schemas.openxmlformats.org/drawingml/2006/main">
              <a:ext uri="{FF2B5EF4-FFF2-40B4-BE49-F238E27FC236}">
                <a16:creationId xmlns:a16="http://schemas.microsoft.com/office/drawing/2014/main" id="{0EAA6083-C089-4463-B0A3-B3DD6C02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229350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同一标注子集同时用于微调和从头训练。</a:t>
            </a:r>
          </a:p>
          <a:p xmlns:a="http://schemas.openxmlformats.org/drawingml/2006/main">
            <a:pPr algn="l">
              <a:defRPr sz="2025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SOAP+FPS 检验结构多样性的选样收益。</a:t>
            </a:r>
          </a:p>
        </p:txBody>
      </p:sp>
      <p:sp>
        <p:nvSpPr>
          <p:cNvPr id="14" name="split-rule">
            <a:extLst xmlns:a="http://schemas.openxmlformats.org/drawingml/2006/main">
              <a:ext uri="{FF2B5EF4-FFF2-40B4-BE49-F238E27FC236}">
                <a16:creationId xmlns:a16="http://schemas.microsoft.com/office/drawing/2014/main" id="{F35ED9FB-DC03-43D2-9C0A-9A2A352A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48575"/>
            <a:ext cx="1343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F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7F87"/>
                </a:solidFill>
                <a:latin typeface="Microsoft YaHei"/>
                <a:ea typeface="Microsoft YaHei"/>
                <a:cs typeface="Microsoft YaHei"/>
              </a:rPr>
              <a:t>按 MD 来源隔离：17 开发，42 验证预留，2026 测试预留。</a:t>
            </a:r>
          </a:p>
        </p:txBody>
      </p:sp>
      <p:sp>
        <p:nvSpPr>
          <p:cNvPr id="15" name="split-caveat">
            <a:extLst xmlns:a="http://schemas.openxmlformats.org/drawingml/2006/main">
              <a:ext uri="{FF2B5EF4-FFF2-40B4-BE49-F238E27FC236}">
                <a16:creationId xmlns:a16="http://schemas.microsoft.com/office/drawing/2014/main" id="{F51C2840-4054-4D4D-B79E-9D727885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34350"/>
            <a:ext cx="1314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7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77A88"/>
                </a:solidFill>
                <a:latin typeface="Microsoft YaHei"/>
                <a:ea typeface="Microsoft YaHei"/>
                <a:cs typeface="Microsoft YaHei"/>
              </a:rPr>
              <a:t>固定测试集仅做最终评估，验证/测试标注清单与可靠性判据待落实。</a:t>
            </a:r>
          </a:p>
        </p:txBody>
      </p:sp>
    </p:spTree>
    <p:extLst>
      <p:ext uri="{BB962C8B-B14F-4D97-AF65-F5344CB8AC3E}">
        <p14:creationId xmlns:p14="http://schemas.microsoft.com/office/powerpoint/2010/main" val="10802997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olio">
            <a:extLst xmlns:a="http://schemas.openxmlformats.org/drawingml/2006/main">
              <a:ext uri="{FF2B5EF4-FFF2-40B4-BE49-F238E27FC236}">
                <a16:creationId xmlns:a16="http://schemas.microsoft.com/office/drawing/2014/main" id="{23936644-0406-44F8-9210-38B7EF99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115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7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7A8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AC8E0F-1A52-4A9E-A5A4-585A0550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371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rPr>
              <a:t>当前进展与下一步</a:t>
            </a:r>
          </a:p>
        </p:txBody>
      </p:sp>
      <p:sp>
        <p:nvSpPr>
          <p:cNvPr id="3" name="lead">
            <a:extLst xmlns:a="http://schemas.openxmlformats.org/drawingml/2006/main">
              <a:ext uri="{FF2B5EF4-FFF2-40B4-BE49-F238E27FC236}">
                <a16:creationId xmlns:a16="http://schemas.microsoft.com/office/drawing/2014/main" id="{A5920274-3B8A-4B1A-B5DB-CD1B8C9C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1371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7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77A88"/>
                </a:solidFill>
                <a:latin typeface="Microsoft YaHei"/>
                <a:ea typeface="Microsoft YaHei"/>
                <a:cs typeface="Microsoft YaHei"/>
              </a:rPr>
              <a:t>已完成采样与选样，当前进入真实 MD 构型的 DFT 协议确认</a:t>
            </a:r>
          </a:p>
        </p:txBody>
      </p:sp>
      <p:sp>
        <p:nvSpPr>
          <p:cNvPr id="4" name="asof">
            <a:extLst xmlns:a="http://schemas.openxmlformats.org/drawingml/2006/main">
              <a:ext uri="{FF2B5EF4-FFF2-40B4-BE49-F238E27FC236}">
                <a16:creationId xmlns:a16="http://schemas.microsoft.com/office/drawing/2014/main" id="{B2BD6485-D836-408C-A03F-0564DD6B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800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7F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7F87"/>
                </a:solidFill>
                <a:latin typeface="Microsoft YaHei"/>
                <a:ea typeface="Microsoft YaHei"/>
                <a:cs typeface="Microsoft YaHei"/>
              </a:rPr>
              <a:t>截至 2026-09-30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762000" y="2809875"/>
          <a:ext xmlns:a="http://schemas.openxmlformats.org/drawingml/2006/main" cx="8286750" cy="32004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666875"/>
                <a:gridCol w="4524375"/>
                <a:gridCol w="2095500"/>
              </a:tblGrid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</a:t>
                      </a:r>
                    </a:p>
                  </a:txBody>
                  <a:tcPr marL="171450" marR="171450" marT="152400" marB="152400" anchor="ctr">
                    <a:solidFill>
                      <a:srgbClr val="102D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现有证据</a:t>
                      </a:r>
                    </a:p>
                  </a:txBody>
                  <a:tcPr marL="171450" marR="171450" marT="152400" marB="152400" anchor="ctr">
                    <a:solidFill>
                      <a:srgbClr val="102D4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</a:t>
                      </a:r>
                    </a:p>
                  </a:txBody>
                  <a:tcPr marL="171450" marR="171450" marT="152400" marB="152400" anchor="ctr">
                    <a:solidFill>
                      <a:srgbClr val="102D4D"/>
                    </a:solidFill>
                  </a:tcPr>
                </a:tc>
              </a:tr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046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首轮 MD</a:t>
                      </a:r>
                    </a:p>
                  </a:txBody>
                  <a:tcPr marL="171450" marR="171450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046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162/162 组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3046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每组 5 + 10 ps</a:t>
                      </a:r>
                    </a:p>
                  </a:txBody>
                  <a:tcPr marL="171450" marR="171450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046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数值完成</a:t>
                      </a:r>
                    </a:p>
                  </a:txBody>
                  <a:tcPr marL="171450" marR="171450" marT="152400" marB="152400" anchor="ctr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046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候选与选样</a:t>
                      </a:r>
                    </a:p>
                  </a:txBody>
                  <a:tcPr marL="171450" marR="171450" marT="152400" marB="152400" anchor="ctr">
                    <a:solidFill>
                      <a:srgbClr val="F0F6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046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2,160 个 64 原子候选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3046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 条 Random / SOAP+FPS 序列</a:t>
                      </a:r>
                    </a:p>
                  </a:txBody>
                  <a:tcPr marL="171450" marR="171450" marT="152400" marB="152400" anchor="ctr">
                    <a:solidFill>
                      <a:srgbClr val="F0F6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046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已准备</a:t>
                      </a:r>
                    </a:p>
                  </a:txBody>
                  <a:tcPr marL="171450" marR="171450" marT="152400" marB="152400" anchor="ctr">
                    <a:solidFill>
                      <a:srgbClr val="F0F6F8"/>
                    </a:solidFill>
                  </a:tcPr>
                </a:tc>
              </a:tr>
              <a:tr h="8001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046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DFT 校准</a:t>
                      </a:r>
                    </a:p>
                  </a:txBody>
                  <a:tcPr marL="171450" marR="171450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046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 构型 × 2 网格 = 36 项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3046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 eV，6³ 与 7³</a:t>
                      </a:r>
                    </a:p>
                  </a:txBody>
                  <a:tcPr marL="171450" marR="171450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3046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输入已备</a:t>
                      </a:r>
                    </a:p>
                    <a:p>
                      <a:pPr algn="l"/>
                      <a:r>
                        <a:rPr sz="1950" b="0">
                          <a:solidFill>
                            <a:srgbClr val="30465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待回传</a:t>
                      </a:r>
                    </a:p>
                  </a:txBody>
                  <a:tcPr marL="171450" marR="171450" marT="152400" marB="152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andidate-evidence">
            <a:extLst xmlns:a="http://schemas.openxmlformats.org/drawingml/2006/main">
              <a:ext uri="{FF2B5EF4-FFF2-40B4-BE49-F238E27FC236}">
                <a16:creationId xmlns:a16="http://schemas.microsoft.com/office/drawing/2014/main" id="{F348727D-9A94-43F0-9BF5-D48EF821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8652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32,400 帧原始采样索引；18 个校准结构已导出。</a:t>
            </a:r>
          </a:p>
        </p:txBody>
      </p:sp>
      <p:sp>
        <p:nvSpPr>
          <p:cNvPr id="7" name="not-yet">
            <a:extLst xmlns:a="http://schemas.openxmlformats.org/drawingml/2006/main">
              <a:ext uri="{FF2B5EF4-FFF2-40B4-BE49-F238E27FC236}">
                <a16:creationId xmlns:a16="http://schemas.microsoft.com/office/drawing/2014/main" id="{FC68F981-AB6F-47F4-9D8E-05D4DA62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38975"/>
            <a:ext cx="828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rPr>
              <a:t>正式 DFT 标签、零样本误差与真实微调结果待完成。</a:t>
            </a:r>
          </a:p>
        </p:txBody>
      </p:sp>
      <p:sp>
        <p:nvSpPr>
          <p:cNvPr id="8" name="next-heading">
            <a:extLst xmlns:a="http://schemas.openxmlformats.org/drawingml/2006/main">
              <a:ext uri="{FF2B5EF4-FFF2-40B4-BE49-F238E27FC236}">
                <a16:creationId xmlns:a16="http://schemas.microsoft.com/office/drawing/2014/main" id="{624494DD-0A40-43A8-93AB-D849C91A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050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2D4D"/>
                </a:solidFill>
                <a:latin typeface="Microsoft YaHei"/>
                <a:ea typeface="Microsoft YaHei"/>
                <a:cs typeface="Microsoft YaHei"/>
              </a:rPr>
              <a:t>接下来</a:t>
            </a:r>
          </a:p>
        </p:txBody>
      </p:sp>
      <p:sp>
        <p:nvSpPr>
          <p:cNvPr id="9" name="next1-title">
            <a:extLst xmlns:a="http://schemas.openxmlformats.org/drawingml/2006/main">
              <a:ext uri="{FF2B5EF4-FFF2-40B4-BE49-F238E27FC236}">
                <a16:creationId xmlns:a16="http://schemas.microsoft.com/office/drawing/2014/main" id="{8D1FA178-1283-4A54-9FE1-3A1D402B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146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F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87"/>
                </a:solidFill>
                <a:latin typeface="Microsoft YaHei"/>
                <a:ea typeface="Microsoft YaHei"/>
                <a:cs typeface="Microsoft YaHei"/>
              </a:rPr>
              <a:t>1  确定 DFT 标注协议</a:t>
            </a:r>
          </a:p>
        </p:txBody>
      </p:sp>
      <p:sp>
        <p:nvSpPr>
          <p:cNvPr id="10" name="next1-body">
            <a:extLst xmlns:a="http://schemas.openxmlformats.org/drawingml/2006/main">
              <a:ext uri="{FF2B5EF4-FFF2-40B4-BE49-F238E27FC236}">
                <a16:creationId xmlns:a16="http://schemas.microsoft.com/office/drawing/2014/main" id="{13F433DC-E3BE-47F2-86C9-4550D173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81375"/>
            <a:ext cx="485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审核 36 项结果，核对误差与耗时。</a:t>
            </a:r>
          </a:p>
        </p:txBody>
      </p:sp>
      <p:sp>
        <p:nvSpPr>
          <p:cNvPr id="11" name="next2-title">
            <a:extLst xmlns:a="http://schemas.openxmlformats.org/drawingml/2006/main">
              <a:ext uri="{FF2B5EF4-FFF2-40B4-BE49-F238E27FC236}">
                <a16:creationId xmlns:a16="http://schemas.microsoft.com/office/drawing/2014/main" id="{197D2278-85F2-46C7-8B29-25B89FFE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76725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F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87"/>
                </a:solidFill>
                <a:latin typeface="Microsoft YaHei"/>
                <a:ea typeface="Microsoft YaHei"/>
                <a:cs typeface="Microsoft YaHei"/>
              </a:rPr>
              <a:t>2  开展小预算验证</a:t>
            </a:r>
          </a:p>
        </p:txBody>
      </p:sp>
      <p:sp>
        <p:nvSpPr>
          <p:cNvPr id="12" name="next2-body">
            <a:extLst xmlns:a="http://schemas.openxmlformats.org/drawingml/2006/main">
              <a:ext uri="{FF2B5EF4-FFF2-40B4-BE49-F238E27FC236}">
                <a16:creationId xmlns:a16="http://schemas.microsoft.com/office/drawing/2014/main" id="{34CB5823-3C17-4772-A010-708FF091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434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先做 N=20：两策略并集 38 帧＊</a:t>
            </a:r>
          </a:p>
          <a:p xmlns:a="http://schemas.openxmlformats.org/drawingml/2006/main">
            <a:pPr algn="l">
              <a:defRPr sz="195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生成零样本误差，比较两种训练方式。</a:t>
            </a:r>
          </a:p>
        </p:txBody>
      </p:sp>
      <p:sp>
        <p:nvSpPr>
          <p:cNvPr id="13" name="next3-title">
            <a:extLst xmlns:a="http://schemas.openxmlformats.org/drawingml/2006/main">
              <a:ext uri="{FF2B5EF4-FFF2-40B4-BE49-F238E27FC236}">
                <a16:creationId xmlns:a16="http://schemas.microsoft.com/office/drawing/2014/main" id="{21C03F53-CF78-4770-A49A-B65BE320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388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7F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07F87"/>
                </a:solidFill>
                <a:latin typeface="Microsoft YaHei"/>
                <a:ea typeface="Microsoft YaHei"/>
                <a:cs typeface="Microsoft YaHei"/>
              </a:rPr>
              <a:t>3  形成可检验的研究结论</a:t>
            </a:r>
          </a:p>
        </p:txBody>
      </p:sp>
      <p:sp>
        <p:nvSpPr>
          <p:cNvPr id="14" name="next3-body">
            <a:extLst xmlns:a="http://schemas.openxmlformats.org/drawingml/2006/main">
              <a:ext uri="{FF2B5EF4-FFF2-40B4-BE49-F238E27FC236}">
                <a16:creationId xmlns:a16="http://schemas.microsoft.com/office/drawing/2014/main" id="{70AAB175-B017-4D0E-BDA3-BA18C5DD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1510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逐步扩大预算，报告数据效率，</a:t>
            </a:r>
          </a:p>
          <a:p xmlns:a="http://schemas.openxmlformats.org/drawingml/2006/main">
            <a:pPr algn="l">
              <a:defRPr sz="195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304658"/>
                </a:solidFill>
                <a:latin typeface="Microsoft YaHei"/>
                <a:ea typeface="Microsoft YaHei"/>
                <a:cs typeface="Microsoft YaHei"/>
              </a:rPr>
              <a:t>再用新轨迹与独立参考验证可靠范围。</a:t>
            </a:r>
          </a:p>
        </p:txBody>
      </p:sp>
      <p:sp>
        <p:nvSpPr>
          <p:cNvPr id="15" name="boundary">
            <a:extLst xmlns:a="http://schemas.openxmlformats.org/drawingml/2006/main">
              <a:ext uri="{FF2B5EF4-FFF2-40B4-BE49-F238E27FC236}">
                <a16:creationId xmlns:a16="http://schemas.microsoft.com/office/drawing/2014/main" id="{BBFDAE7D-0B13-4900-878E-8976E608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0"/>
            <a:ext cx="1381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A5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A531C"/>
                </a:solidFill>
                <a:latin typeface="Microsoft YaHei"/>
                <a:ea typeface="Microsoft YaHei"/>
                <a:cs typeface="Microsoft YaHei"/>
              </a:rPr>
              <a:t>6000 K 仅为采样上限，尚不能报告可靠温度边界、熔点或适配收益。</a:t>
            </a:r>
          </a:p>
        </p:txBody>
      </p:sp>
      <p:sp>
        <p:nvSpPr>
          <p:cNvPr id="16" name="budget-footnote">
            <a:extLst xmlns:a="http://schemas.openxmlformats.org/drawingml/2006/main">
              <a:ext uri="{FF2B5EF4-FFF2-40B4-BE49-F238E27FC236}">
                <a16:creationId xmlns:a16="http://schemas.microsoft.com/office/drawing/2014/main" id="{6A05D487-4F23-4A26-826A-8D4D1F44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24825"/>
            <a:ext cx="1328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7A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7A88"/>
                </a:solidFill>
                <a:latin typeface="Microsoft YaHei"/>
                <a:ea typeface="Microsoft YaHei"/>
                <a:cs typeface="Microsoft YaHei"/>
              </a:rPr>
              <a:t>＊单个选样种子；校准、验证/测试与参考计算另计。三个选样种子的 N=200 训练并集为 552 帧。</a:t>
            </a:r>
          </a:p>
        </p:txBody>
      </p:sp>
    </p:spTree>
    <p:extLst>
      <p:ext uri="{BB962C8B-B14F-4D97-AF65-F5344CB8AC3E}">
        <p14:creationId xmlns:p14="http://schemas.microsoft.com/office/powerpoint/2010/main" val="15036890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2026-09-30T09:45:14.2640000Z</dcterms:created>
  <dcterms:modified xsi:type="dcterms:W3CDTF">2026-09-30T09:45:14.2640000Z</dcterms:modified>
</coreProperties>
</file>